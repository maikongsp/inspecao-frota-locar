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9728" cy="32918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77240"/>
            <a:ext cx="2286000" cy="918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645920"/>
            <a:ext cx="10241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212"/>
                </a:solidFill>
                <a:latin typeface="Arial"/>
              </a:defRPr>
            </a:pPr>
            <a:r>
              <a:t>MANUAL FUNCIONAL E OPERACIONAL • LOCAR GUINDASTES</a:t>
            </a:r>
          </a:p>
          <a:p>
            <a:pPr>
              <a:spcBef>
                <a:spcPts val="6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Sistema de Inspeção &amp; Qualidade de Frota</a:t>
            </a:r>
          </a:p>
          <a:p>
            <a:pPr>
              <a:spcBef>
                <a:spcPts val="1000"/>
              </a:spcBef>
              <a:defRPr sz="1350">
                <a:solidFill>
                  <a:srgbClr val="F1F5F9"/>
                </a:solidFill>
                <a:latin typeface="Arial"/>
              </a:defRPr>
            </a:pPr>
            <a:r>
              <a:t>Gestão Operacional de Pátio, Checklists Normativos (NR-11/12/18/35), Disparo Automático ao PCM,</a:t>
            </a:r>
            <a:br/>
            <a:r>
              <a:t>Sincronização Nuvem Appwrite Cloud, Arquitetura 100% Offline-First e Laudos Periciais com Hash Forense.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931920"/>
            <a:ext cx="10058400" cy="1051560"/>
          </a:xfrm>
          <a:prstGeom prst="roundRect">
            <a:avLst/>
          </a:prstGeom>
          <a:solidFill>
            <a:srgbClr val="474444"/>
          </a:solidFill>
          <a:ln w="15240">
            <a:solidFill>
              <a:srgbClr val="FFF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23360"/>
            <a:ext cx="9692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212"/>
                </a:solidFill>
              </a:defRPr>
            </a:pPr>
            <a:r>
              <a:t>🌐 LINK OFICIAL DE ACESSO AO SISTEMA (PRODUÇÃO VERCEL &amp; PWA):</a:t>
            </a:r>
          </a:p>
          <a:p>
            <a:pPr>
              <a:spcBef>
                <a:spcPts val="200"/>
              </a:spcBef>
              <a:defRPr sz="1800" b="1">
                <a:solidFill>
                  <a:srgbClr val="FFFFFF"/>
                </a:solidFill>
              </a:defRPr>
            </a:pPr>
            <a:r>
              <a:t>https://inspecao-frota-locar.vercel.app/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</a:defRPr>
            </a:pPr>
            <a:r>
              <a:t>Disponível no Computador, Tablet ou Celular (Instalável via PWA). Funciona 100% Offline no Pátio.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100584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4406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Unidade Operacional: Locar Guindastes e Transportes Intermodais S/A — Filial Betim / MG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Desenvolvido por Maikon Pinho  •  Identidade Visual: Cinza Oficial (#474444), Amarelo (#FFF212) e Branco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EXEMPLOS VISUAIS REAIS DO SISTEMA EM OPERAÇÃO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1. Visão Geral da Interface &amp; Telas do Sistema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83080"/>
            <a:ext cx="2322576" cy="13064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57200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212"/>
                </a:solidFill>
              </a:defRPr>
            </a:pPr>
            <a:r>
              <a:t>Dashboard da Frota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KPIs em tempo real e grid dos 272 ativos de Betim.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_inspe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783080"/>
            <a:ext cx="2322576" cy="13064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93592" y="457200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212"/>
                </a:solidFill>
              </a:defRPr>
            </a:pPr>
            <a:r>
              <a:t>Stepper de Inspeção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Checklist normativo com fotos obrigatórias.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reen_pc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783080"/>
            <a:ext cx="2322576" cy="13064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18504" y="457200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212"/>
                </a:solidFill>
              </a:defRPr>
            </a:pPr>
            <a:r>
              <a:t>Central do PCM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S.S. automáticas, ordens e disparos de e-mail/WhatsApp.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reen_laud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1783080"/>
            <a:ext cx="2322576" cy="13064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43416" y="457200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212"/>
                </a:solidFill>
              </a:defRPr>
            </a:pPr>
            <a:r>
              <a:t>Laudos &amp; Histórico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Rastreabilidade e certificação com QR Code / SHA-256.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RESILIÊNCIA NO PÁTIO DE BETIM SEM SINAL DE REDE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2. Funcionamento 100% Offline no Celular (PWA)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FFF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📱 Aplicativo PWA Instalável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• Instalação sem App Store: O inspetor acessa o link e toca em 'Adicionar à Tela de Início'.</a:t>
            </a:r>
            <a:br/>
            <a:br/>
            <a:r>
              <a:t>• Service Worker &amp; Cache: O código, telas e fotos são gravados no celular para abrir instantaneamente mesmo em modo avião.</a:t>
            </a:r>
            <a:br/>
            <a:br/>
            <a:r>
              <a:t>• Banco Local Dual-Layer:</a:t>
            </a:r>
            <a:br/>
            <a:r>
              <a:t>  - IndexedDB: Fotos e evidências pesadas.</a:t>
            </a:r>
            <a:br/>
            <a:r>
              <a:t>  - LocalStorage: Dados de frota e filas.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474444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🔒 Zero Risco de Perda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• Trabalho Ininterrupto no Pátio: O inspetor preenche o checklist, tira fotos e assina sem travar.</a:t>
            </a:r>
            <a:br/>
            <a:br/>
            <a:r>
              <a:t>• Fila de Contingência (Sync Queue): Se não houver rede, a vistoria entra em uma fila segura no celular.</a:t>
            </a:r>
            <a:br/>
            <a:br/>
            <a:r>
              <a:t>• Segurança Máxima: Bateria descarregada, desligamento ou fechamento do app não apagam os dados preenchidos.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FFF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🚦 Indicadores no Topo</a:t>
            </a:r>
          </a:p>
          <a:p>
            <a:pPr>
              <a:spcBef>
                <a:spcPts val="1000"/>
              </a:spcBef>
              <a:defRPr sz="1100">
                <a:solidFill>
                  <a:srgbClr val="F1F5F9"/>
                </a:solidFill>
              </a:defRPr>
            </a:pPr>
            <a:r>
              <a:t>O inspetor visualiza a conectividade em tempo real no cabeçalho:</a:t>
            </a:r>
            <a:br/>
            <a:br/>
            <a:r>
              <a:t>• Appwrite OK (Verde):</a:t>
            </a:r>
            <a:br/>
            <a:r>
              <a:t>  Todos os laudos já estão salvos e sincronizados na nuvem.</a:t>
            </a:r>
            <a:br/>
            <a:br/>
            <a:r>
              <a:t>• X Pendente(s) (Amarelo):</a:t>
            </a:r>
            <a:br/>
            <a:r>
              <a:t>  Há laudos na fila aguardando término de transmissão.</a:t>
            </a:r>
            <a:br/>
            <a:br/>
            <a:r>
              <a:t>• Offline Pátio (Vermelho):</a:t>
            </a:r>
            <a:br/>
            <a:r>
              <a:t>  Celular sem sinal; dados protegidos na memória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AUTOMAÇÃO COMPLETA: O USUÁRIO NÃO PRECISA FAZER NADA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3. Sincronização com a Nuvem (Appwrite Cloud)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212"/>
                </a:solidFill>
              </a:defRPr>
            </a:pPr>
            <a:r>
              <a:t>⚡ Quando a Sincronização Acontece?</a:t>
            </a:r>
          </a:p>
          <a:p>
            <a:pPr>
              <a:spcBef>
                <a:spcPts val="1200"/>
              </a:spcBef>
              <a:defRPr sz="1150">
                <a:solidFill>
                  <a:srgbClr val="F1F5F9"/>
                </a:solidFill>
              </a:defRPr>
            </a:pPr>
            <a:r>
              <a:t>1. Automático ao Recuperar Sinal (Wi-Fi ou 4G/5G):</a:t>
            </a:r>
            <a:br/>
            <a:r>
              <a:t>Assim que o inspetor se aproxima da oficina ou entra na cobertura de rede, o navegador detecta o evento 'online' instantaneamente e descarrega toda a fila de vistorias pendentes (flushSyncQueue) para a nuvem.</a:t>
            </a:r>
            <a:br/>
            <a:br/>
            <a:r>
              <a:t>2. Automático ao Reabrir o Aplicativo com Internet:</a:t>
            </a:r>
            <a:br/>
            <a:r>
              <a:t>Se o app foi fechado offline, nos primeiros 3 segundos após reabrir com conexão, uma rotina em segundo plano verifica pendências e envia tudo automaticamente.</a:t>
            </a:r>
            <a:br/>
            <a:br/>
            <a:r>
              <a:t>3. Em Tempo Real (se já houver sinal no pátio):</a:t>
            </a:r>
            <a:br/>
            <a:r>
              <a:t>Se o aparelho estiver conectado no momento de assinar o laudo, a gravação na nuvem ocorre no mesmo segundo.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45920"/>
            <a:ext cx="4297680" cy="4480560"/>
          </a:xfrm>
          <a:prstGeom prst="roundRect">
            <a:avLst/>
          </a:prstGeom>
          <a:solidFill>
            <a:srgbClr val="474444"/>
          </a:solidFill>
          <a:ln w="15240">
            <a:solidFill>
              <a:srgbClr val="FFF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82880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❓ É necessário fazer algo?</a:t>
            </a:r>
          </a:p>
          <a:p>
            <a:pPr>
              <a:spcBef>
                <a:spcPts val="600"/>
              </a:spcBef>
              <a:defRPr sz="1300" b="1">
                <a:solidFill>
                  <a:srgbClr val="FFF212"/>
                </a:solidFill>
              </a:defRPr>
            </a:pPr>
            <a:r>
              <a:t>NÃO! A sincronização é 100% transparente e automática.</a:t>
            </a:r>
          </a:p>
          <a:p>
            <a:pPr>
              <a:spcBef>
                <a:spcPts val="1000"/>
              </a:spcBef>
              <a:defRPr sz="1150">
                <a:solidFill>
                  <a:srgbClr val="F1F5F9"/>
                </a:solidFill>
              </a:defRPr>
            </a:pPr>
            <a:r>
              <a:t>O inspetor não precisa se preocupar em apertar botões para sincronizar.</a:t>
            </a:r>
            <a:br/>
            <a:br/>
            <a:r>
              <a:t>👆 Sincronização Manual (Opcional):</a:t>
            </a:r>
            <a:br/>
            <a:r>
              <a:t>Se o inspetor desejar forçar o envio imediato, basta tocar no botão 'Appwrite OK' ou 'Pendente(s)' no cabeçalho.</a:t>
            </a:r>
            <a:br/>
            <a:br/>
            <a:r>
              <a:t>O sistema tentará a conexão na hora e exibirá um aviso em tela: 'X registros sincronizados com sucesso!'.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AUTOMAÇÃO DE STATUS DA FROTA NA FINALIZAÇÃO DA VISTORIA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4. Regra Operacional: Transições Automáticas de Status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FFF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⛔ SE REPROVADO NA INSPEÇÃO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Status da Frota passa automaticamente para:</a:t>
            </a:r>
          </a:p>
          <a:p>
            <a:pPr>
              <a:spcBef>
                <a:spcPts val="400"/>
              </a:spcBef>
              <a:defRPr sz="2000" b="1">
                <a:solidFill>
                  <a:srgbClr val="FFF212"/>
                </a:solidFill>
              </a:defRPr>
            </a:pPr>
            <a:r>
              <a:t>⚙️ MANUTENÇÃO (PCM)</a:t>
            </a:r>
          </a:p>
          <a:p>
            <a:pPr>
              <a:spcBef>
                <a:spcPts val="1200"/>
              </a:spcBef>
              <a:defRPr sz="1150">
                <a:solidFill>
                  <a:srgbClr val="F1F5F9"/>
                </a:solidFill>
              </a:defRPr>
            </a:pPr>
            <a:r>
              <a:t>• Bloqueio Compulsório: Equipamento fica impedido de sair do pátio.</a:t>
            </a:r>
            <a:br/>
            <a:r>
              <a:t>• S.S. Imediata: Gera a Solicitação de Serviço ao PCM com fotos e normas.</a:t>
            </a:r>
            <a:br/>
            <a:r>
              <a:t>• Suspensão de Reserva: Se estava reservado para cliente, a reserva é suspensa e anotada como retida para manutenção.</a:t>
            </a:r>
            <a:br/>
            <a:r>
              <a:t>• Notificação PCM: Disparo de e-mail padrão e WhatsApp para a oficina.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474444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212"/>
                </a:solidFill>
              </a:defRPr>
            </a:pPr>
            <a:r>
              <a:t>✓ SE 100% APROVADO NA INSPEÇÃO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Status da Frota passa automaticamente para: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🟢 DISPONÍVEL NO PÁTIO</a:t>
            </a:r>
          </a:p>
          <a:p>
            <a:pPr>
              <a:spcBef>
                <a:spcPts val="1200"/>
              </a:spcBef>
              <a:defRPr sz="1150">
                <a:solidFill>
                  <a:srgbClr val="F1F5F9"/>
                </a:solidFill>
              </a:defRPr>
            </a:pPr>
            <a:r>
              <a:t>• Liberação Comercial: Equipamento apto para nova locação no pátio.</a:t>
            </a:r>
            <a:br/>
            <a:r>
              <a:t>• Limpeza de Pendências: Reserva antiga e dados transitórios são liberados.</a:t>
            </a:r>
            <a:br/>
            <a:r>
              <a:t>• Baixa Técnica no PCM: Qualquer S.S. que estava em aberto é concluída no sistema com o laudo de aprovação.</a:t>
            </a:r>
            <a:br/>
            <a:r>
              <a:t>• Laudo Liberado: Emissão do laudo com selo de liberação, QR Code e Hash SHA-256.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PAINEL GERENCIAL DA FILIAL BETIM / MG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5. Gestão de Frota &amp; Métricas CMMS Engeman®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pic>
        <p:nvPicPr>
          <p:cNvPr id="6" name="Picture 5" descr="scree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45920"/>
            <a:ext cx="4663440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212"/>
                </a:solidFill>
              </a:defRPr>
            </a:pPr>
            <a:r>
              <a:t>Indicadores em Tempo Real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• 272 Ativos Cadastrados (Bases Fleet 1 &amp; 2):</a:t>
            </a:r>
            <a:br/>
            <a:r>
              <a:t>  - Divisão PTA: 245 plataformas elevatórias (Genie, JLG, Haulotte, Skyjack).</a:t>
            </a:r>
            <a:br/>
            <a:r>
              <a:t>  - Divisão Guindastes &amp; Outros: 27 ativos (Liebherr, Grove, Muncks, Empilhadeiras).</a:t>
            </a:r>
            <a:br/>
            <a:br/>
            <a:r>
              <a:t>• Status Operacionais Oficiais da Filial Betim:</a:t>
            </a:r>
            <a:br/>
            <a:r>
              <a:t>  - 138 em Manutenção (com prazos exatos de saída e dias p/ liberar do PCM).</a:t>
            </a:r>
            <a:br/>
            <a:r>
              <a:t>  - 98 Locadas em operação em clientes vigentes.</a:t>
            </a:r>
            <a:br/>
            <a:r>
              <a:t>  - 33 Disponíveis no pátio aptas para mobilização imediata.</a:t>
            </a:r>
            <a:br/>
            <a:r>
              <a:t>  - 3 Reservadas comerciais em negociação.</a:t>
            </a:r>
            <a:br/>
            <a:br/>
            <a:r>
              <a:t>• Controle de Prazos de Saída da Manutenção:</a:t>
            </a:r>
            <a:br/>
            <a:r>
              <a:t>  Data de liberação e contagem regressiva visíveis em cada card e exportação CSV.</a:t>
            </a:r>
            <a:br/>
            <a:br/>
            <a:r>
              <a:t>• Alerta de Manutenção Preventiva:</a:t>
            </a:r>
            <a:br/>
            <a:r>
              <a:t>  Identifica automaticamente horímetros próximos do ciclo de 250h/500h com badge de preventiva.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STEPPER GUIADO COM EVIDÊNCIAS E ASSINATURA TOUCH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6. O Processo de Inspeção Técnica no Pátio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pic>
        <p:nvPicPr>
          <p:cNvPr id="6" name="Picture 5" descr="screen_inspe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45920"/>
            <a:ext cx="4663440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FFF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212"/>
                </a:solidFill>
              </a:defRPr>
            </a:pPr>
            <a:r>
              <a:t>Rigor do Checklist Normativo</a:t>
            </a:r>
          </a:p>
          <a:p>
            <a:pPr>
              <a:spcBef>
                <a:spcPts val="1000"/>
              </a:spcBef>
              <a:defRPr sz="1150">
                <a:solidFill>
                  <a:srgbClr val="F1F5F9"/>
                </a:solidFill>
              </a:defRPr>
            </a:pPr>
            <a:r>
              <a:t>1. Identificação Completa:</a:t>
            </a:r>
            <a:br/>
            <a:r>
              <a:t>Matrícula do inspetor, telefone, turno e horímetro atual.</a:t>
            </a:r>
            <a:br/>
            <a:br/>
            <a:r>
              <a:t>2. Vistoria Setorizada:</a:t>
            </a:r>
            <a:br/>
            <a:r>
              <a:t>Itens divididos por Estrutura Externa, Operação, Dispositivos de Emergência e Mecânica/Hidráulica.</a:t>
            </a:r>
            <a:br/>
            <a:br/>
            <a:r>
              <a:t>3. Foto Forense Obrigatória:</a:t>
            </a:r>
            <a:br/>
            <a:r>
              <a:t>Qualquer item marcado como Não Conforme exige captura de foto com carimbo de TAG, data e hora.</a:t>
            </a:r>
            <a:br/>
            <a:br/>
            <a:r>
              <a:t>4. Assinatura Digital Touch no Canvas:</a:t>
            </a:r>
            <a:br/>
            <a:r>
              <a:t>Obrigatória antes de concluir. Sem assinatura, o laudo não é emitido.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PLANEJAMENTO, CONTROLE DE MANUTENÇÃO E NOTIFICAÇÕES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7. Central do PCM &amp; Ordens Corretivas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pic>
        <p:nvPicPr>
          <p:cNvPr id="6" name="Picture 5" descr="screen_p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45920"/>
            <a:ext cx="4663440" cy="448056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212"/>
                </a:solidFill>
              </a:defRPr>
            </a:pPr>
            <a:r>
              <a:t>Fluxo Integrado da Oficina</a:t>
            </a:r>
          </a:p>
          <a:p>
            <a:pPr>
              <a:spcBef>
                <a:spcPts val="1000"/>
              </a:spcBef>
              <a:defRPr sz="1150">
                <a:solidFill>
                  <a:srgbClr val="F1F5F9"/>
                </a:solidFill>
              </a:defRPr>
            </a:pPr>
            <a:r>
              <a:t>• Solicitação de Serviço (S.S.) Instantânea:</a:t>
            </a:r>
            <a:br/>
            <a:r>
              <a:t>A cada máquina reprovada, gera-se uma S.S. oficial com a lista de defeitos e fotos anexadas.</a:t>
            </a:r>
            <a:br/>
            <a:br/>
            <a:r>
              <a:t>• Notificação Multicanal:</a:t>
            </a:r>
            <a:br/>
            <a:r>
              <a:t>  - E-mail corporativo em HTML com formato pericial.</a:t>
            </a:r>
            <a:br/>
            <a:r>
              <a:t>  - Botão de envio rápido para o WhatsApp do gestor do PCM.</a:t>
            </a:r>
            <a:br/>
            <a:br/>
            <a:r>
              <a:t>• Workflow de 4 Fases:</a:t>
            </a:r>
            <a:br/>
            <a:r>
              <a:t>  Aberta ➔ Em Planejamento ➔ Em Execução ➔ Concluída.</a:t>
            </a:r>
            <a:br/>
            <a:br/>
            <a:r>
              <a:t>• Reinspeção Mandatória:</a:t>
            </a:r>
            <a:br/>
            <a:r>
              <a:t>  Após o PCM concluir, o equipamento passa por nova inspeção para retornar a DISPONÍVEL.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BLINDAGEM JURÍDICA E CERTIFICAÇÃO DIGITAL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8. Laudo Técnico Pericial &amp; Integridade Forense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pic>
        <p:nvPicPr>
          <p:cNvPr id="6" name="Picture 5" descr="screen_lau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852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0" y="1645920"/>
            <a:ext cx="4663440" cy="4480560"/>
          </a:xfrm>
          <a:prstGeom prst="roundRect">
            <a:avLst/>
          </a:prstGeom>
          <a:solidFill>
            <a:srgbClr val="474444"/>
          </a:solidFill>
          <a:ln w="15240">
            <a:solidFill>
              <a:srgbClr val="FFF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8288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Validade Pericial e Jurídica</a:t>
            </a:r>
          </a:p>
          <a:p>
            <a:pPr>
              <a:spcBef>
                <a:spcPts val="1000"/>
              </a:spcBef>
              <a:defRPr sz="1150">
                <a:solidFill>
                  <a:srgbClr val="F1F5F9"/>
                </a:solidFill>
              </a:defRPr>
            </a:pPr>
            <a:r>
              <a:t>• Hash Criptográfico SHA-256:</a:t>
            </a:r>
            <a:br/>
            <a:r>
              <a:t>Cada laudo emite uma assinatura matemática inviolável com base nos dados e fotos da vistoria.</a:t>
            </a:r>
            <a:br/>
            <a:br/>
            <a:r>
              <a:t>• QR Code de Validação em Campo:</a:t>
            </a:r>
            <a:br/>
            <a:r>
              <a:t>Auditores ou clientes em obra podem escanear o QR Code impresso e consultar a integridade original.</a:t>
            </a:r>
            <a:br/>
            <a:br/>
            <a:r>
              <a:t>• Exportação Direta para PDF:</a:t>
            </a:r>
            <a:br/>
            <a:r>
              <a:t>Emissão em 1 clique sem depender de impressoras ou conexões externas.</a:t>
            </a:r>
            <a:br/>
            <a:br/>
            <a:r>
              <a:t>• Histórico Perpétuo do Ativo:</a:t>
            </a:r>
            <a:br/>
            <a:r>
              <a:t>Rastreabilidade completa de todas as intervenções para auditorias do Ministério do Trabalho e clientes.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DIRETRIZES TÉCNICAS E COMERCIAIS POR CLIENTE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9. Matriz de Rigor por Cliente (Client Tiers)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474444"/>
          </a:solidFill>
          <a:ln w="15240">
            <a:solidFill>
              <a:srgbClr val="FFF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60320" cy="109728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TIER AA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Grandes Minerações &amp; Siderurgias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Principais Clientes:</a:t>
            </a:r>
            <a:br/>
            <a:r>
              <a:t>Vale, Usiminas, Anglo American, CSN, ArcelorMittal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Exigências Técnicas:</a:t>
            </a:r>
            <a:br/>
            <a:r>
              <a:t>Rigor Máximo: Pintura 100% impecável, testes de carga, ART mecânica, horímetro estrito e vistoria pericial.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45920"/>
            <a:ext cx="2560320" cy="109728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TIER A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Contratadas dos Grandes Players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Principais Clientes:</a:t>
            </a:r>
            <a:br/>
            <a:r>
              <a:t>Andrade Gutierrez, Camargo Corrêa, Manserv, Tenenge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Exigências Técnicas:</a:t>
            </a:r>
            <a:br/>
            <a:r>
              <a:t>Rigor Elevado: Atendimento integral às NRs 11/12/18 e homologação de requisitos da contratante principal.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60320" cy="109728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TIER B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Obras Públicas &amp; Infraestrutura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Principais Clientes:</a:t>
            </a:r>
            <a:br/>
            <a:r>
              <a:t>Construtoras de Rodovias, Galpões e Prefeituras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Exigências Técnicas:</a:t>
            </a:r>
            <a:br/>
            <a:r>
              <a:t>Rigor Moderado: Equipamento 100% funcional com itens mandatórios de segurança testados e laudo válido.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06256" y="1645920"/>
            <a:ext cx="2560320" cy="109728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92024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TIER C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Locação Operacional Padrão</a:t>
            </a:r>
          </a:p>
          <a:p>
            <a:pPr>
              <a:spcBef>
                <a:spcPts val="800"/>
              </a:spcBef>
              <a:defRPr sz="1000">
                <a:solidFill>
                  <a:srgbClr val="F1F5F9"/>
                </a:solidFill>
              </a:defRPr>
            </a:pPr>
            <a:r>
              <a:t>Principais Clientes:</a:t>
            </a:r>
            <a:br/>
            <a:r>
              <a:t>Locações Avulsas, Indústrias Locais e Prestadores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Exigências Técnicas:</a:t>
            </a:r>
            <a:br/>
            <a:r>
              <a:t>Rigor Padrão: Conformidade mecânica, hidráulica e operacional plena antes da mobilização no pátio.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TRANSIÇÃO DA FASE DE TESTES PARA OPERAÇÃO REAL • PURGA DE DADOS E CARGA CORPORATIVA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10. Entrada em Operação &amp; Carga de Dados Oficiais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🧹  Purga Rigorosa de Testes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Remoção integral de todos os laudos simulados, vistorias preliminares, solicitações fictícias do PCM e usuários de homologação. Elimina contaminação de dados.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👥  Governança &amp; Cadastro por CPF / E-mail (RBAC)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Perfil 'admin' exclusivo do gestor Maikon Pinho (maikon.pinho@locar.com.br). Cadastro oficial de operadores habilitado por CPF ou E-mail corporativo, com PIN com hash SHA-256 e controle soberano de permissões.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🚜  Atualização de Status da Frota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Atualização em lote do status real de operação dos 272 ativos da base Betim: 138 em manutenção (com prazos exatos de saída do PCM), 98 locadas, 33 disponíveis e 3 reservadas.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📢  Informativo de Falhas &amp; Sugestões (E-mail Direto)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Canal no cabeçalho e rodapé para relato de bugs e sugestões de melhoria. Cada chamado gera protocolo único e é despachado por e-mail formal para maikon.pinho@locar.com.br com inbox de gestão no painel.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AUTO-ADAPTAÇÃO ERGONÔMICA PARA DESKTOP NO ESCRITÓRIO E SMARTPHONES NO PÁTIO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11. Otimização Responsiva: Computador &amp; Mobile (PWA)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💻  Visão Computador &amp; Escritório (Desktop)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Visão analítica ampla com grids em múltiplas colunas (1440px), painel de KPIs executivos com status por divisão (PTA / Guindastes), visualização ampla de laudos e atalhos de gestão.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📱  Visão Celular &amp; Tablet no Pátio (Mobile)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Adaptação automática para smartphones (Android e iOS): layout em coluna única, botões e touch-targets de fácil acionamento com o polegar (&gt;=44px) e abas de rolagem tátil suave.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📷  Câmera e Assinatura Touch em Campo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Acionamento da câmera traseira física do celular (facingMode: environment) para fotos de avarias, além de canvas de assinatura digital por toque com bloqueio de scroll (touch-action: none).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⚡  PWA Instalável &amp; IA Copilot Flutuante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Pode ser adicionado à tela inicial do celular como App nativo (PWA com Service Worker offline). O balão de IA adapta seu tamanho dinamicamente em qualquer resolução de tela.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F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212"/>
                </a:solidFill>
                <a:latin typeface="Arial"/>
              </a:defRPr>
            </a:pPr>
            <a:r>
              <a:t>GANHOS TÉCNICOS, OPERACIONAIS E JURÍDICOS PARA A LOCAR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12. Conclusão &amp; Benefícios Estratégicos</a:t>
            </a:r>
          </a:p>
        </p:txBody>
      </p:sp>
      <p:pic>
        <p:nvPicPr>
          <p:cNvPr id="5" name="Picture 4" descr="locar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645920" cy="6609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⚡  Zero Papel no Pátio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Processo 100% digitalizado em smartphones ou tablets, eliminando pranchetas e retrabalho de digitação.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🛡️  Segurança e Blindagem Jurídica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Comprovação forense de vistoria técnica prévia rigorosa para Ministério do Trabalho e seguradoras.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🤝  Sinergia Pátio, PCM e Comercial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Visibilidade instantânea sobre quais equipamentos estão aptos, reservados ou em reparos na oficina.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2E2B2B"/>
          </a:solidFill>
          <a:ln w="15240">
            <a:solidFill>
              <a:srgbClr val="5C5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212"/>
                </a:solidFill>
              </a:defRPr>
            </a:pPr>
            <a:r>
              <a:t>🌐  Resiliência Máxima Offline-First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Operação garantida no pátio de Betim sem interrupções e sincronização automática transparente com a nuvem.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