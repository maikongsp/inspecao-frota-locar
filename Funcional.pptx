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926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2377440" cy="9547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92024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Arial"/>
              </a:defRPr>
            </a:pPr>
            <a:r>
              <a:t>MANUAL FUNCIONAL E OPERACIONAL • VERSÃO 2026</a:t>
            </a:r>
          </a:p>
          <a:p>
            <a:pPr>
              <a:spcBef>
                <a:spcPts val="8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Sistema de Inspeção &amp; Qualidade de Frota</a:t>
            </a:r>
          </a:p>
          <a:p>
            <a:pPr>
              <a:spcBef>
                <a:spcPts val="12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Controle de Frotas de PTA e Guindastes, Vistorias Técnicas Normativas (NR-11/12/18/35),</a:t>
            </a:r>
            <a:br/>
            <a:r>
              <a:t>Integração com PCM, Bloqueio Automático, Gestão Comercial e Emissão de Laudos Periciais.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4406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Unidade Operacional: Locar Guindastes e Transportes Intermodais S/A — Filial Betim / MG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Responsável Técnico / Desenvolvimento: Maikon Pinho  •  Tecnologias: Offline-First PWA, Appwrite Cloud, IA Vision &amp; Forensic Hash SHA-256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ALINHAMENTO OPERACIONAL E COMPLIANCE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1. Visão Geral e Propósito Corporativo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28416" cy="10972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27797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🎯 Tolerância Zero na Segurança</a:t>
            </a:r>
          </a:p>
          <a:p>
            <a:pPr>
              <a:spcBef>
                <a:spcPts val="14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Elimina a liberação indevida de máquinas com defeitos visuais, estruturais ou mecânicos. Se houver 1 única não conformidade, o ativo é compulsoriamente bloqueado no pátio e direcionado à oficina do PCM.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25696" y="1645920"/>
            <a:ext cx="3328416" cy="10972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0016" y="1965960"/>
            <a:ext cx="27797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📜 Conformidade Normativa Estrita</a:t>
            </a:r>
          </a:p>
          <a:p>
            <a:pPr>
              <a:spcBef>
                <a:spcPts val="14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Checklists rigorosos baseados nas normas brasileiras e internacionais obrigatórias:</a:t>
            </a:r>
            <a:br/>
            <a:r>
              <a:t>• NR-11: Transporte e Movimentação</a:t>
            </a:r>
            <a:br/>
            <a:r>
              <a:t>• NR-12: Segurança em Máquinas</a:t>
            </a:r>
            <a:br/>
            <a:r>
              <a:t>• NR-18 (Anexo IV) &amp; NR-35: Trabalho em Altura</a:t>
            </a:r>
            <a:br/>
            <a:r>
              <a:t>• ABNT NBR 16776 &amp; ASME B30.5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10972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27797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⚡ Agilidade e Integração em Tempo Real</a:t>
            </a:r>
          </a:p>
          <a:p>
            <a:pPr>
              <a:spcBef>
                <a:spcPts val="1400"/>
              </a:spcBef>
              <a:defRPr sz="1200">
                <a:solidFill>
                  <a:srgbClr val="CBD5E1"/>
                </a:solidFill>
                <a:latin typeface="Arial"/>
              </a:defRPr>
            </a:pPr>
            <a:r>
              <a:t>Conexão direta e automática entre a Inspeção Técnica de Pátio, o PCM (Planejamento e Controle de Manutenção) e o Comercial. Redução drástica do Lead Time de mobilização e reparos de frota.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ARQUITETURA FUNCIONAL &amp; NUVEM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2. Estrutura e Módulos do Sistema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🚜 Gestão de Frota &amp; Dashboard</a:t>
            </a:r>
          </a:p>
          <a:p>
            <a:pPr>
              <a:spcBef>
                <a:spcPts val="300"/>
              </a:spcBef>
              <a:defRPr sz="1000" b="1">
                <a:solidFill>
                  <a:srgbClr val="38BDF8"/>
                </a:solidFill>
                <a:latin typeface="Arial"/>
              </a:defRPr>
            </a:pPr>
            <a:r>
              <a:t>Status / Papel: Visibilidade Geral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Controle dos 273 equipamentos ativos da base Betim. Segregação por Divisão PTA (245) e Divisão Guindastes (29), filtros por status operacional, clientes contratantes e horímetro de preventiva.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📋 Motor de Inspeção Técnica</a:t>
            </a:r>
          </a:p>
          <a:p>
            <a:pPr>
              <a:spcBef>
                <a:spcPts val="300"/>
              </a:spcBef>
              <a:defRPr sz="1000" b="1">
                <a:solidFill>
                  <a:srgbClr val="38BDF8"/>
                </a:solidFill>
                <a:latin typeface="Arial"/>
              </a:defRPr>
            </a:pPr>
            <a:r>
              <a:t>Status / Papel: Validação Estrita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Stepper guiado de vistoria com itens normativos, registro fotográfico obrigatório com carimbo forense para falhas, auditoria visual por IA e validação de 100% dos quesitos com assinatura digital.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📨 Central de Atendimento PCM</a:t>
            </a:r>
          </a:p>
          <a:p>
            <a:pPr>
              <a:spcBef>
                <a:spcPts val="300"/>
              </a:spcBef>
              <a:defRPr sz="1000" b="1">
                <a:solidFill>
                  <a:srgbClr val="38BDF8"/>
                </a:solidFill>
                <a:latin typeface="Arial"/>
              </a:defRPr>
            </a:pPr>
            <a:r>
              <a:t>Status / Papel: Fluxo Corretivo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Geração instantânea de Solicitações de Serviço (S.S.) em caso de não conformidades. Gestão de etapas (Aberta, Em Planejamento, Em Execução, Concluída), disparo de e-mail e WhatsApp para o PCM.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t>📜 Laudos Periciais &amp; Auditoria Forense</a:t>
            </a:r>
          </a:p>
          <a:p>
            <a:pPr>
              <a:spcBef>
                <a:spcPts val="300"/>
              </a:spcBef>
              <a:defRPr sz="1000" b="1">
                <a:solidFill>
                  <a:srgbClr val="38BDF8"/>
                </a:solidFill>
                <a:latin typeface="Arial"/>
              </a:defRPr>
            </a:pPr>
            <a:r>
              <a:t>Status / Papel: Validade Jurídica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Geração do Laudo Técnico Pericial em PDF oficial com carimbo, QR Code dinâmico autenticador e Hash Criptográfico SHA-256 para auditorias do Ministério do Trabalho e clientes de grande porte.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AUTOMAÇÃO INTELIGENTE DE PÁTIO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3. Regra Fundamental: Transições Automáticas de Status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⛔ SE REPROVADO NA INSPEÇÃO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59E0B"/>
                </a:solidFill>
              </a:defRPr>
            </a:pPr>
            <a:r>
              <a:t>⚙️ MANUTENÇÃO (PCM)</a:t>
            </a:r>
          </a:p>
          <a:p>
            <a:pPr>
              <a:spcBef>
                <a:spcPts val="1400"/>
              </a:spcBef>
              <a:defRPr sz="1150">
                <a:solidFill>
                  <a:srgbClr val="CBD5E1"/>
                </a:solidFill>
              </a:defRPr>
            </a:pPr>
            <a:r>
              <a:t>O que acontece no sistema:</a:t>
            </a:r>
            <a:br/>
            <a:r>
              <a:t>1. Bloqueio Imediato: O equipamento é marcado como retido no pátio de Betim.</a:t>
            </a:r>
            <a:br/>
            <a:r>
              <a:t>2. Solicitação de Serviço (S.S.): Criada instantaneamente vinculada ao PCM com as não conformidades e fotos de evidência.</a:t>
            </a:r>
            <a:br/>
            <a:r>
              <a:t>3. Proteção Comercial: Se a máquina possuía reserva para cliente (ex: Vale), a reserva é suspensa e anotada como retida para evitar saída indevida.</a:t>
            </a:r>
            <a:br/>
            <a:r>
              <a:t>4. Comunicação Automática: E-mail e link de WhatsApp gerados para acionar o PCM.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✓ SE 100% APROVADO NA INSPEÇÃO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10B981"/>
                </a:solidFill>
              </a:defRPr>
            </a:pPr>
            <a:r>
              <a:t>🟢 DISPONÍVEL NO PÁTIO</a:t>
            </a:r>
          </a:p>
          <a:p>
            <a:pPr>
              <a:spcBef>
                <a:spcPts val="1400"/>
              </a:spcBef>
              <a:defRPr sz="1150">
                <a:solidFill>
                  <a:srgbClr val="CBD5E1"/>
                </a:solidFill>
              </a:defRPr>
            </a:pPr>
            <a:r>
              <a:t>O que acontece no sistema:</a:t>
            </a:r>
            <a:br/>
            <a:r>
              <a:t>1. Liberação Imediata: Máquina 100% apta e regularizada para locação ou mobilização.</a:t>
            </a:r>
            <a:br/>
            <a:r>
              <a:t>2. Limpeza de Pendências: Qualquer reserva ou pendência de manutenção anterior é regularizada e limpa.</a:t>
            </a:r>
            <a:br/>
            <a:r>
              <a:t>3. Baixa Técnica no PCM: Se existia S.S. aberta para este ativo na oficina, ela é automaticamente concluída com a aprovação.</a:t>
            </a:r>
            <a:br/>
            <a:r>
              <a:t>4. Laudo Pericial Liberado: Emissão imediata do laudo com carimbo verde de liberação, QR Code e Hash SHA-256.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FLUXO OPERACIONAL E COMERCIAL INTEGRADO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4. Ciclo de Vida e Estados da Frota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60320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🟢 DISPONÍVEL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Pronto para Locação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Equipamento aprovado em inspeção técnica e liberado no pátio. É o único status que permite nova Reserva Comercial.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🟡 RESERVADA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Acordo Comercial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Reservado para cliente específico (ex: Vale, Usiminas). Exige nova vistoria técnica rigorosa antes da mobilização na obra.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60320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🔵 LOCADA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Em Operação no Cliente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Ativo em operação no cliente. Pode passar por inspeções periódicas de campo para checagem contínua de segurança.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645920"/>
            <a:ext cx="2560320" cy="10972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🟠 MANUTENÇÃO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Retido na Oficina (PCM)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Ativo reprovado em inspeção ou aguardando reparos pelo PCM. Retorna a 'DISPONÍVEL' somente após concluir reparos e nova aprovação.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METODOLOGIA DE VISTORIA NORMATIVA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5. O Passo a Passo da Inspeção Técnica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ETAPA 1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Abertura &amp; Identificação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Seleção do equipamento pela TAG, registro da matrícula e telefone do inspetor, turno de trabalho, horímetro atual e destinação comercial (Client Tier).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ETAPA 2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Checklist Normativo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Inspeção visual e funcional setorizada (Externa, Operacional, Segurança, Mecânica/Hidráulica). Cada item deve ser checado obrigatoriamente como Conforme ou Não Conforme.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ETAPA 3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Evidência &amp; Auditoria IA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Para itens reprovados, captura de foto obrigatória com carimbo de TAG, data e hora. A IA Copilot analisa a foto e categoriza a gravidade segundo as NRs vigentes.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ETAPA 4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Assinatura &amp; Emissão</a:t>
            </a:r>
          </a:p>
          <a:p>
            <a:pPr>
              <a:spcBef>
                <a:spcPts val="1200"/>
              </a:spcBef>
              <a:defRPr sz="1100">
                <a:solidFill>
                  <a:srgbClr val="CBD5E1"/>
                </a:solidFill>
              </a:defRPr>
            </a:pPr>
            <a:r>
              <a:t>Parecer técnico do inspetor e assinatura digital obrigatória no Canvas. Cálculo do Hash SHA-256 e emissão do Laudo com atualização imediata do status da frota.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PLANEJAMENTO E CONTROLE DE MANUTENÇÃO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6. Central de Atendimento e Fluxo PCM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1. Geração da S.S.</a:t>
            </a:r>
          </a:p>
          <a:p>
            <a:pPr>
              <a:spcBef>
                <a:spcPts val="1000"/>
              </a:spcBef>
              <a:defRPr sz="1150">
                <a:solidFill>
                  <a:srgbClr val="CBD5E1"/>
                </a:solidFill>
              </a:defRPr>
            </a:pPr>
            <a:r>
              <a:t>• Cada reprovação gera uma S.S. única numerada (ex: SS-PCM-BETIM-2026-003).</a:t>
            </a:r>
            <a:br/>
            <a:br/>
            <a:r>
              <a:t>• Todas as não conformidades apontadas pelo inspetor são consolidadas em lista com fotos e normas violadas.</a:t>
            </a:r>
            <a:br/>
            <a:br/>
            <a:r>
              <a:t>• Prioridade de atendimento classificada de acordo com a criticidade operacional.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2. Disparo Automático</a:t>
            </a:r>
          </a:p>
          <a:p>
            <a:pPr>
              <a:spcBef>
                <a:spcPts val="1000"/>
              </a:spcBef>
              <a:defRPr sz="1150">
                <a:solidFill>
                  <a:srgbClr val="CBD5E1"/>
                </a:solidFill>
              </a:defRPr>
            </a:pPr>
            <a:r>
              <a:t>• E-mail Corporativo: Mensagem estruturada em HTML enviada para pcm.betim@locar.com.br.</a:t>
            </a:r>
            <a:br/>
            <a:br/>
            <a:r>
              <a:t>• Despacho WhatsApp: Botão rápido com link direto para o WhatsApp do gestor do PCM com resumo da avaria.</a:t>
            </a:r>
            <a:br/>
            <a:br/>
            <a:r>
              <a:t>• Cliente de E-mail: Compatibilidade nativa para envio via Outlook ou Gmail em 1 clique.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3. Ciclo de Oficina</a:t>
            </a:r>
          </a:p>
          <a:p>
            <a:pPr>
              <a:spcBef>
                <a:spcPts val="1000"/>
              </a:spcBef>
              <a:defRPr sz="1150">
                <a:solidFill>
                  <a:srgbClr val="CBD5E1"/>
                </a:solidFill>
              </a:defRPr>
            </a:pPr>
            <a:r>
              <a:t>• ABERTA: Aguardando inclusão no cronograma.</a:t>
            </a:r>
            <a:br/>
            <a:br/>
            <a:r>
              <a:t>• EM PLANEJAMENTO: PCM aloca peças, recursos e equipe técnica.</a:t>
            </a:r>
            <a:br/>
            <a:br/>
            <a:r>
              <a:t>• EM OFICINA: Serviços executados pelos mecânicos/eletricistas Locar.</a:t>
            </a:r>
            <a:br/>
            <a:br/>
            <a:r>
              <a:t>• CONCLUÍDA: Oficina finaliza os reparos e libera para nova inspeção técnica de liberação.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DIRETRIZES COMERCIAIS &amp; OPERACIONAIS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7. Matriz de Rigor Técnico por Cliente (Client Tiers)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60320" cy="10972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855F7"/>
                </a:solidFill>
              </a:defRPr>
            </a:pPr>
            <a:r>
              <a:t>TIER AA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Grandes Minerações &amp; Siderurgias</a:t>
            </a:r>
          </a:p>
          <a:p>
            <a:pPr>
              <a:spcBef>
                <a:spcPts val="800"/>
              </a:spcBef>
              <a:defRPr sz="1000">
                <a:solidFill>
                  <a:srgbClr val="F59E0B"/>
                </a:solidFill>
              </a:defRPr>
            </a:pPr>
            <a:r>
              <a:t>Principais Clientes:</a:t>
            </a:r>
            <a:br/>
            <a:r>
              <a:t>Vale, Usiminas, Anglo American, ArcelorMittal, CSN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Máximo: Padrão visual 100% impecável, ART mecânica, testes de carga, horímetro estrito e vistoria nível pericial.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TIER 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Contratadas dos Grandes Players</a:t>
            </a:r>
          </a:p>
          <a:p>
            <a:pPr>
              <a:spcBef>
                <a:spcPts val="800"/>
              </a:spcBef>
              <a:defRPr sz="1000">
                <a:solidFill>
                  <a:srgbClr val="F59E0B"/>
                </a:solidFill>
              </a:defRPr>
            </a:pPr>
            <a:r>
              <a:t>Principais Clientes:</a:t>
            </a:r>
            <a:br/>
            <a:r>
              <a:t>Andrade Gutierrez, Camargo Corrêa, Manserv, Tenenge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Elevado: Atendimento a todas as normas regulamentadoras NR-11/12/18 e homologação nos padrões da contratante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60320" cy="109728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AB308"/>
                </a:solidFill>
              </a:defRPr>
            </a:pPr>
            <a:r>
              <a:t>TIER B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Obras Públicas &amp; Infraestrutura</a:t>
            </a:r>
          </a:p>
          <a:p>
            <a:pPr>
              <a:spcBef>
                <a:spcPts val="800"/>
              </a:spcBef>
              <a:defRPr sz="1000">
                <a:solidFill>
                  <a:srgbClr val="F59E0B"/>
                </a:solidFill>
              </a:defRPr>
            </a:pPr>
            <a:r>
              <a:t>Principais Clientes:</a:t>
            </a:r>
            <a:br/>
            <a:r>
              <a:t>Construtoras Regionais, Prefeituras, Rodovias e Galpões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Moderado: Equipamento 100% funcional, itens obrigatórios de segurança testados e atestados com laudo técnico válido.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645920"/>
            <a:ext cx="2560320" cy="10972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94A3B8"/>
                </a:solidFill>
              </a:defRPr>
            </a:pPr>
            <a:r>
              <a:t>TIER C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Locação Operacional Padrão</a:t>
            </a:r>
          </a:p>
          <a:p>
            <a:pPr>
              <a:spcBef>
                <a:spcPts val="800"/>
              </a:spcBef>
              <a:defRPr sz="1000">
                <a:solidFill>
                  <a:srgbClr val="F59E0B"/>
                </a:solidFill>
              </a:defRPr>
            </a:pPr>
            <a:r>
              <a:t>Principais Clientes:</a:t>
            </a:r>
            <a:br/>
            <a:r>
              <a:t>Locação Avulsa, Indústrias Locais e Prestadores de Serviços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Padrão: Conformidade mecânica, hidráulica e operacional plena antes da mobilização no pátio.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BLINDAGEM JURÍDICA E INTEGRIDADE DE DADOS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8. Segurança, Perfis de Acesso (RBAC) e Laudo Pericial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Perfis Corporativos de Acesso (RBAC)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</a:defRPr>
            </a:pPr>
            <a:r>
              <a:t>• Inspetor Técnico: Preenche e assina vistorias técnicas normativas de pátio.</a:t>
            </a:r>
            <a:br/>
            <a:br/>
            <a:r>
              <a:t>• Equipe Comercial: Efetua reservas, define prazos, vincula clientes contratantes e inicia locação.</a:t>
            </a:r>
            <a:br/>
            <a:br/>
            <a:r>
              <a:t>• Gestão PCM: Gerencia ordens de serviço, atualiza acompanhamento de oficina e valida manutenções.</a:t>
            </a:r>
            <a:br/>
            <a:br/>
            <a:r>
              <a:t>• Gestor de Frota / Admin: Acesso integral, cadastro de novos ativos e parametrizações gerais.</a:t>
            </a:r>
            <a:br/>
            <a:br/>
            <a:r>
              <a:t>• Modo Consulta: Permite visualização e auditoria sem alterar dados.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Laudo Técnico &amp; Custódia Forense</a:t>
            </a:r>
          </a:p>
          <a:p>
            <a:pPr>
              <a:spcBef>
                <a:spcPts val="1000"/>
              </a:spcBef>
              <a:defRPr sz="1100">
                <a:solidFill>
                  <a:srgbClr val="CBD5E1"/>
                </a:solidFill>
              </a:defRPr>
            </a:pPr>
            <a:r>
              <a:t>• Hash Criptográfico SHA-256: Cada laudo gera uma chave criptográfica inviolável baseada na TAG, dados da inspeção, inspetor e fotos.</a:t>
            </a:r>
            <a:br/>
            <a:br/>
            <a:r>
              <a:t>• QR Code Autenticador: Permite que clientes e auditores em campo escaneiem o QR Code no papel e verifiquem a autenticidade imediata na base Locar.</a:t>
            </a:r>
            <a:br/>
            <a:br/>
            <a:r>
              <a:t>• Exportação Direta para PDF: Geração offline instantânea do documento oficial pronto para impressão ou envio por e-mail.</a:t>
            </a:r>
            <a:br/>
            <a:br/>
            <a:r>
              <a:t>• Histórico Perpétuo: Rastreabilidade de 100% das vistorias já realizadas no ativo.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Arial"/>
              </a:defRPr>
            </a:pPr>
            <a:r>
              <a:t>IMPACTO NA OPERAÇÃO DE BETIM</a:t>
            </a:r>
          </a:p>
          <a:p>
            <a:pPr>
              <a:spcBef>
                <a:spcPts val="4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9. Conclusão &amp; Benefícios Estratégicos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2004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⚡  Zero Papel no Pátio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Processo 100% digitalizado em smartphones ou tablets, eliminando pranchetas e retrabalho de digitação.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🛡️  Segurança Jurídica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Blindagem em caso de auditorias e acidentes, com comprovação forense de vistoria técnica prévia rigorosa.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🤝  Conexão Comercial &amp; PCM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Visibilidade instantânea para o Comercial saber quais máquinas estão aptas ou quando sairão da oficina.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E232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🌐  Resiliência Offline-First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O inspetor trabalha sem interrupções mesmo em áreas remotas do pátio sem sinal de internet ou Wi-Fi.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